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2" r:id="rId2"/>
    <p:sldId id="351" r:id="rId3"/>
    <p:sldId id="352" r:id="rId4"/>
    <p:sldId id="353" r:id="rId5"/>
    <p:sldId id="354" r:id="rId6"/>
    <p:sldId id="355" r:id="rId7"/>
    <p:sldId id="356" r:id="rId8"/>
    <p:sldId id="358" r:id="rId9"/>
    <p:sldId id="359" r:id="rId10"/>
    <p:sldId id="35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FDD1"/>
    <a:srgbClr val="FFDC97"/>
    <a:srgbClr val="FFFF99"/>
    <a:srgbClr val="0070C0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4" autoAdjust="0"/>
    <p:restoredTop sz="93370" autoAdjust="0"/>
  </p:normalViewPr>
  <p:slideViewPr>
    <p:cSldViewPr>
      <p:cViewPr varScale="1">
        <p:scale>
          <a:sx n="62" d="100"/>
          <a:sy n="62" d="100"/>
        </p:scale>
        <p:origin x="-696" y="-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2" d="100"/>
        <a:sy n="9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4197DA-3CEF-4E71-A07F-E36C5C5789EF}" type="datetimeFigureOut">
              <a:rPr lang="zh-CN" altLang="en-US" smtClean="0"/>
              <a:pPr/>
              <a:t>2014-04-24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DC9CB1-19BD-4C2C-B9E5-247601634E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998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 smtClean="0">
              <a:effectLst>
                <a:outerShdw blurRad="38100" dist="38100" dir="2700000" algn="tl">
                  <a:srgbClr val="FFFFFF"/>
                </a:outerShdw>
              </a:effectLst>
              <a:latin typeface="华文行楷" panose="02010800040101010101" pitchFamily="2" charset="-122"/>
              <a:ea typeface="华文行楷" panose="02010800040101010101" pitchFamily="2" charset="-122"/>
              <a:cs typeface="Arial Unicode MS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DC9CB1-19BD-4C2C-B9E5-247601634E32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751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0256" y="188640"/>
            <a:ext cx="3433111" cy="62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5027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2014-04-24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5-3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95" t="30811" r="2568" b="63243"/>
          <a:stretch>
            <a:fillRect/>
          </a:stretch>
        </p:blipFill>
        <p:spPr bwMode="auto">
          <a:xfrm>
            <a:off x="5108051" y="4653136"/>
            <a:ext cx="6888088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23"/>
          <p:cNvSpPr txBox="1">
            <a:spLocks noChangeArrowheads="1"/>
          </p:cNvSpPr>
          <p:nvPr/>
        </p:nvSpPr>
        <p:spPr bwMode="auto">
          <a:xfrm>
            <a:off x="8772368" y="5466255"/>
            <a:ext cx="2831224" cy="771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IT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部</a:t>
            </a:r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运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维管理团队  王秀宝</a:t>
            </a:r>
            <a:endParaRPr lang="en-US" altLang="zh-CN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fld id="{F83DC1A1-5F0D-4BE1-8FEF-C5391F2CE75F}" type="datetime1">
              <a:rPr lang="zh-CN" altLang="en-US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pPr algn="ctr">
                <a:lnSpc>
                  <a:spcPct val="150000"/>
                </a:lnSpc>
                <a:defRPr/>
              </a:pPr>
              <a:t>2014-04-24</a:t>
            </a:fld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2" y="0"/>
            <a:ext cx="4773178" cy="6850689"/>
          </a:xfrm>
          <a:prstGeom prst="rect">
            <a:avLst/>
          </a:prstGeom>
        </p:spPr>
      </p:pic>
      <p:sp>
        <p:nvSpPr>
          <p:cNvPr id="29" name="TextBox 23"/>
          <p:cNvSpPr txBox="1">
            <a:spLocks noChangeArrowheads="1"/>
          </p:cNvSpPr>
          <p:nvPr/>
        </p:nvSpPr>
        <p:spPr bwMode="auto">
          <a:xfrm>
            <a:off x="10217679" y="6008284"/>
            <a:ext cx="1460656" cy="458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2014-01-16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标题 6"/>
          <p:cNvSpPr txBox="1">
            <a:spLocks/>
          </p:cNvSpPr>
          <p:nvPr/>
        </p:nvSpPr>
        <p:spPr>
          <a:xfrm>
            <a:off x="5375920" y="2624715"/>
            <a:ext cx="4415979" cy="7920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成衣维修系统</a:t>
            </a:r>
            <a:endParaRPr lang="zh-CN" altLang="en-US" dirty="0">
              <a:effectLst>
                <a:outerShdw blurRad="38100" dist="38100" dir="2700000" algn="tl">
                  <a:srgbClr val="FFFFFF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200" y="476672"/>
            <a:ext cx="3791398" cy="5912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459" y="3479194"/>
            <a:ext cx="40671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用户操作说明书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5"/>
          <p:cNvSpPr/>
          <p:nvPr/>
        </p:nvSpPr>
        <p:spPr>
          <a:xfrm>
            <a:off x="185295" y="210566"/>
            <a:ext cx="1643074" cy="500066"/>
          </a:xfrm>
          <a:prstGeom prst="rect">
            <a:avLst/>
          </a:prstGeom>
          <a:gradFill>
            <a:gsLst>
              <a:gs pos="0">
                <a:srgbClr val="FFB3B3"/>
              </a:gs>
              <a:gs pos="50000">
                <a:srgbClr val="FF5353"/>
              </a:gs>
              <a:gs pos="100000">
                <a:srgbClr val="B00000"/>
              </a:gs>
            </a:gsLst>
            <a:lin ang="5400000" scaled="0"/>
          </a:gra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FFFFFF"/>
                </a:solidFill>
                <a:latin typeface="微软雅黑" panose="020B0503020204020204" pitchFamily="34" charset="-122"/>
              </a:rPr>
              <a:t>成衣维修</a:t>
            </a:r>
            <a:endParaRPr lang="ko-KR" altLang="en-US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35560" y="229686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如何进入成衣维修系统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90" y="1669450"/>
            <a:ext cx="5305425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47246" y="980728"/>
            <a:ext cx="9417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描述：点击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POS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右上角“系统集合”按钮，然后在弹出的对话框中，点击“成衣维修”按钮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1181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5"/>
          <p:cNvSpPr/>
          <p:nvPr/>
        </p:nvSpPr>
        <p:spPr>
          <a:xfrm>
            <a:off x="185295" y="210566"/>
            <a:ext cx="1643074" cy="500066"/>
          </a:xfrm>
          <a:prstGeom prst="rect">
            <a:avLst/>
          </a:prstGeom>
          <a:gradFill>
            <a:gsLst>
              <a:gs pos="0">
                <a:srgbClr val="FFB3B3"/>
              </a:gs>
              <a:gs pos="50000">
                <a:srgbClr val="FF5353"/>
              </a:gs>
              <a:gs pos="100000">
                <a:srgbClr val="B00000"/>
              </a:gs>
            </a:gsLst>
            <a:lin ang="5400000" scaled="0"/>
          </a:gra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FFFFFF"/>
                </a:solidFill>
                <a:latin typeface="微软雅黑" panose="020B0503020204020204" pitchFamily="34" charset="-122"/>
              </a:rPr>
              <a:t>成衣维修</a:t>
            </a:r>
            <a:endParaRPr lang="ko-KR" altLang="en-US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63552" y="229766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成衣维修系统主界面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67" y="1317176"/>
            <a:ext cx="11527329" cy="494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圆角矩形标注 6"/>
          <p:cNvSpPr/>
          <p:nvPr/>
        </p:nvSpPr>
        <p:spPr>
          <a:xfrm>
            <a:off x="6624816" y="935511"/>
            <a:ext cx="1872208" cy="504056"/>
          </a:xfrm>
          <a:prstGeom prst="wedgeRoundRectCallout">
            <a:avLst>
              <a:gd name="adj1" fmla="val -68046"/>
              <a:gd name="adj2" fmla="val 41336"/>
              <a:gd name="adj3" fmla="val 16667"/>
            </a:avLst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菜单栏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圆角矩形标注 9"/>
          <p:cNvSpPr/>
          <p:nvPr/>
        </p:nvSpPr>
        <p:spPr>
          <a:xfrm>
            <a:off x="8647152" y="1929244"/>
            <a:ext cx="1872208" cy="504056"/>
          </a:xfrm>
          <a:prstGeom prst="wedgeRoundRectCallout">
            <a:avLst>
              <a:gd name="adj1" fmla="val -70488"/>
              <a:gd name="adj2" fmla="val 62500"/>
              <a:gd name="adj3" fmla="val 16667"/>
            </a:avLst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查询栏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标注 10"/>
          <p:cNvSpPr/>
          <p:nvPr/>
        </p:nvSpPr>
        <p:spPr>
          <a:xfrm>
            <a:off x="10159320" y="2757336"/>
            <a:ext cx="1872208" cy="504056"/>
          </a:xfrm>
          <a:prstGeom prst="wedgeRoundRectCallout">
            <a:avLst>
              <a:gd name="adj1" fmla="val -70488"/>
              <a:gd name="adj2" fmla="val 62500"/>
              <a:gd name="adj3" fmla="val 16667"/>
            </a:avLst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数据列表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6531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5"/>
          <p:cNvSpPr/>
          <p:nvPr/>
        </p:nvSpPr>
        <p:spPr>
          <a:xfrm>
            <a:off x="185295" y="210566"/>
            <a:ext cx="1643074" cy="500066"/>
          </a:xfrm>
          <a:prstGeom prst="rect">
            <a:avLst/>
          </a:prstGeom>
          <a:gradFill>
            <a:gsLst>
              <a:gs pos="0">
                <a:srgbClr val="FFB3B3"/>
              </a:gs>
              <a:gs pos="50000">
                <a:srgbClr val="FF5353"/>
              </a:gs>
              <a:gs pos="100000">
                <a:srgbClr val="B00000"/>
              </a:gs>
            </a:gsLst>
            <a:lin ang="5400000" scaled="0"/>
          </a:gra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FFFFFF"/>
                </a:solidFill>
                <a:latin typeface="微软雅黑" panose="020B0503020204020204" pitchFamily="34" charset="-122"/>
              </a:rPr>
              <a:t>成衣维修</a:t>
            </a:r>
            <a:endParaRPr lang="ko-KR" altLang="en-US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63552" y="229766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如何新增一条成衣维修申请单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5295" y="836712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第一步：点击菜单栏中“登记维修单”按钮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55" y="1221284"/>
            <a:ext cx="11090529" cy="5181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1963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5"/>
          <p:cNvSpPr/>
          <p:nvPr/>
        </p:nvSpPr>
        <p:spPr>
          <a:xfrm>
            <a:off x="185295" y="210566"/>
            <a:ext cx="1643074" cy="500066"/>
          </a:xfrm>
          <a:prstGeom prst="rect">
            <a:avLst/>
          </a:prstGeom>
          <a:gradFill>
            <a:gsLst>
              <a:gs pos="0">
                <a:srgbClr val="FFB3B3"/>
              </a:gs>
              <a:gs pos="50000">
                <a:srgbClr val="FF5353"/>
              </a:gs>
              <a:gs pos="100000">
                <a:srgbClr val="B00000"/>
              </a:gs>
            </a:gsLst>
            <a:lin ang="5400000" scaled="0"/>
          </a:gra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FFFFFF"/>
                </a:solidFill>
                <a:latin typeface="微软雅黑" panose="020B0503020204020204" pitchFamily="34" charset="-122"/>
              </a:rPr>
              <a:t>成衣维修</a:t>
            </a:r>
            <a:endParaRPr lang="ko-KR" altLang="en-US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63552" y="229766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如何新增一条成衣维修申请单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5295" y="836712"/>
            <a:ext cx="618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第二步：输入申请单必填项信息，点击“保存维修单”按钮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768408" y="2581742"/>
            <a:ext cx="22075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如果是顾客维修，输入顾客卡号，即可带出顾客信息。如果不是顾客维修，则取消打勾即可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60" y="1412776"/>
            <a:ext cx="9343316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圆角矩形标注 4"/>
          <p:cNvSpPr/>
          <p:nvPr/>
        </p:nvSpPr>
        <p:spPr>
          <a:xfrm>
            <a:off x="3759696" y="3681028"/>
            <a:ext cx="5688632" cy="756084"/>
          </a:xfrm>
          <a:prstGeom prst="wedgeRoundRectCallout">
            <a:avLst>
              <a:gd name="adj1" fmla="val 56424"/>
              <a:gd name="adj2" fmla="val -44417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标注 10"/>
          <p:cNvSpPr/>
          <p:nvPr/>
        </p:nvSpPr>
        <p:spPr>
          <a:xfrm>
            <a:off x="3737168" y="4653136"/>
            <a:ext cx="1854776" cy="288032"/>
          </a:xfrm>
          <a:prstGeom prst="wedgeRoundRectCallout">
            <a:avLst>
              <a:gd name="adj1" fmla="val 273343"/>
              <a:gd name="adj2" fmla="val -28544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9767584" y="4202504"/>
            <a:ext cx="22075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款号一定要是系统存在的款号，且需要到色到码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标注 12"/>
          <p:cNvSpPr/>
          <p:nvPr/>
        </p:nvSpPr>
        <p:spPr>
          <a:xfrm>
            <a:off x="3737168" y="5131162"/>
            <a:ext cx="5688632" cy="378042"/>
          </a:xfrm>
          <a:prstGeom prst="wedgeRoundRectCallout">
            <a:avLst>
              <a:gd name="adj1" fmla="val 55352"/>
              <a:gd name="adj2" fmla="val 20084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9768408" y="5320183"/>
            <a:ext cx="22075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物流信息一定要填写准确，如果多件衣服放一个快递包裹，填写相同的单号即可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4860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1289480"/>
            <a:ext cx="9814693" cy="5116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5"/>
          <p:cNvSpPr/>
          <p:nvPr/>
        </p:nvSpPr>
        <p:spPr>
          <a:xfrm>
            <a:off x="185295" y="210566"/>
            <a:ext cx="1643074" cy="500066"/>
          </a:xfrm>
          <a:prstGeom prst="rect">
            <a:avLst/>
          </a:prstGeom>
          <a:gradFill>
            <a:gsLst>
              <a:gs pos="0">
                <a:srgbClr val="FFB3B3"/>
              </a:gs>
              <a:gs pos="50000">
                <a:srgbClr val="FF5353"/>
              </a:gs>
              <a:gs pos="100000">
                <a:srgbClr val="B00000"/>
              </a:gs>
            </a:gsLst>
            <a:lin ang="5400000" scaled="0"/>
          </a:gra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FFFFFF"/>
                </a:solidFill>
                <a:latin typeface="微软雅黑" panose="020B0503020204020204" pitchFamily="34" charset="-122"/>
              </a:rPr>
              <a:t>成衣维修</a:t>
            </a:r>
            <a:endParaRPr lang="ko-KR" altLang="en-US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63552" y="229766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如何新增一条成衣维修申请单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295" y="836712"/>
            <a:ext cx="6417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第三步：点击“保存维修单”按钮后，点击“发送总部”按钮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流程图: 可选过程 1"/>
          <p:cNvSpPr/>
          <p:nvPr/>
        </p:nvSpPr>
        <p:spPr>
          <a:xfrm>
            <a:off x="3287688" y="1340768"/>
            <a:ext cx="762567" cy="339320"/>
          </a:xfrm>
          <a:prstGeom prst="flowChartAlternate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328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44" y="1700808"/>
            <a:ext cx="11640616" cy="36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5"/>
          <p:cNvSpPr/>
          <p:nvPr/>
        </p:nvSpPr>
        <p:spPr>
          <a:xfrm>
            <a:off x="185295" y="210566"/>
            <a:ext cx="1643074" cy="500066"/>
          </a:xfrm>
          <a:prstGeom prst="rect">
            <a:avLst/>
          </a:prstGeom>
          <a:gradFill>
            <a:gsLst>
              <a:gs pos="0">
                <a:srgbClr val="FFB3B3"/>
              </a:gs>
              <a:gs pos="50000">
                <a:srgbClr val="FF5353"/>
              </a:gs>
              <a:gs pos="100000">
                <a:srgbClr val="B00000"/>
              </a:gs>
            </a:gsLst>
            <a:lin ang="5400000" scaled="0"/>
          </a:gra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FFFFFF"/>
                </a:solidFill>
                <a:latin typeface="微软雅黑" panose="020B0503020204020204" pitchFamily="34" charset="-122"/>
              </a:rPr>
              <a:t>成衣维修</a:t>
            </a:r>
            <a:endParaRPr lang="ko-KR" altLang="en-US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63552" y="229766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如何新增一条成衣维修申请单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295" y="836712"/>
            <a:ext cx="8032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第四步：在主界面中查看刚才新增的申请单记录，状态变更为“已发总部”。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同时将需要维修的衣服快递至公司总部即可。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322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5"/>
          <p:cNvSpPr/>
          <p:nvPr/>
        </p:nvSpPr>
        <p:spPr>
          <a:xfrm>
            <a:off x="185295" y="210566"/>
            <a:ext cx="1643074" cy="500066"/>
          </a:xfrm>
          <a:prstGeom prst="rect">
            <a:avLst/>
          </a:prstGeom>
          <a:gradFill>
            <a:gsLst>
              <a:gs pos="0">
                <a:srgbClr val="FFB3B3"/>
              </a:gs>
              <a:gs pos="50000">
                <a:srgbClr val="FF5353"/>
              </a:gs>
              <a:gs pos="100000">
                <a:srgbClr val="B00000"/>
              </a:gs>
            </a:gsLst>
            <a:lin ang="5400000" scaled="0"/>
          </a:gra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FFFFFF"/>
                </a:solidFill>
                <a:latin typeface="微软雅黑" panose="020B0503020204020204" pitchFamily="34" charset="-122"/>
              </a:rPr>
              <a:t>成衣维修</a:t>
            </a:r>
            <a:endParaRPr lang="ko-KR" altLang="en-US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63552" y="22976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如何收货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5295" y="836712"/>
            <a:ext cx="10807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第五步：当收到来自总部的维修衣服后，在主界面中查询该衣服的款号，可以查看到该申请记录的状态为   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“总部已发货”，此时双击该记录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95" y="1916832"/>
            <a:ext cx="11359332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351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5"/>
          <p:cNvSpPr/>
          <p:nvPr/>
        </p:nvSpPr>
        <p:spPr>
          <a:xfrm>
            <a:off x="185295" y="210566"/>
            <a:ext cx="1643074" cy="500066"/>
          </a:xfrm>
          <a:prstGeom prst="rect">
            <a:avLst/>
          </a:prstGeom>
          <a:gradFill>
            <a:gsLst>
              <a:gs pos="0">
                <a:srgbClr val="FFB3B3"/>
              </a:gs>
              <a:gs pos="50000">
                <a:srgbClr val="FF5353"/>
              </a:gs>
              <a:gs pos="100000">
                <a:srgbClr val="B00000"/>
              </a:gs>
            </a:gsLst>
            <a:lin ang="5400000" scaled="0"/>
          </a:gra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FFFFFF"/>
                </a:solidFill>
                <a:latin typeface="微软雅黑" panose="020B0503020204020204" pitchFamily="34" charset="-122"/>
              </a:rPr>
              <a:t>成衣维修</a:t>
            </a:r>
            <a:endParaRPr lang="ko-KR" altLang="en-US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63552" y="22976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如何收货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5295" y="836712"/>
            <a:ext cx="10807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第六步：双击后，点击“店铺收货”，此时系统会弹出一个评价对话框，输入店铺评价并点击“店铺收货           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及评价”按钮，至此，整个成衣维修流程完结。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95" y="1790139"/>
            <a:ext cx="9307016" cy="5067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5401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5"/>
          <p:cNvSpPr/>
          <p:nvPr/>
        </p:nvSpPr>
        <p:spPr>
          <a:xfrm>
            <a:off x="185295" y="210566"/>
            <a:ext cx="1643074" cy="500066"/>
          </a:xfrm>
          <a:prstGeom prst="rect">
            <a:avLst/>
          </a:prstGeom>
          <a:gradFill>
            <a:gsLst>
              <a:gs pos="0">
                <a:srgbClr val="FFB3B3"/>
              </a:gs>
              <a:gs pos="50000">
                <a:srgbClr val="FF5353"/>
              </a:gs>
              <a:gs pos="100000">
                <a:srgbClr val="B00000"/>
              </a:gs>
            </a:gsLst>
            <a:lin ang="5400000" scaled="0"/>
          </a:gra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FFFFFF"/>
                </a:solidFill>
                <a:latin typeface="微软雅黑" panose="020B0503020204020204" pitchFamily="34" charset="-122"/>
              </a:rPr>
              <a:t>成衣维修</a:t>
            </a:r>
            <a:endParaRPr lang="ko-KR" altLang="en-US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63552" y="229766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附录：单据状态说明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160" y="1268760"/>
            <a:ext cx="691727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登          记：代表店铺已经登记维修单，但是尚未提交给总部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已 发 总 部：代表待维修衣服已经从店铺发出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维   修   中：代表待维修衣服已经交付给总部，并且开始维修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维 修 完 成：代表待修衣服已经完成维修，但是尚未发还给店铺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总部已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发货：代表待修衣服已经从总部发出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店铺已收货： 代表店铺已经收到来自总部维修完成的衣服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1384" y="3861048"/>
            <a:ext cx="1080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注：在整个成衣维修过程中，只有总部判定退仓处理，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中库存才会发生变化（系统自动生成从店铺的退货发货单，以及总部的退货收货单），即店铺库存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，总部维修仓库存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</a:t>
            </a:r>
          </a:p>
          <a:p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其他情况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</a:t>
            </a:r>
            <a:r>
              <a:rPr lang="zh-CN" altLang="en-US" b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中库存均不发生变化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2595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8427</TotalTime>
  <Words>478</Words>
  <Application>Microsoft Office PowerPoint</Application>
  <PresentationFormat>自定义</PresentationFormat>
  <Paragraphs>48</Paragraphs>
  <Slides>10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产品事业部共享支持BP 2013年工作展望</dc:title>
  <dc:creator>alexzhao</dc:creator>
  <cp:lastModifiedBy>ALEXZHAO</cp:lastModifiedBy>
  <cp:revision>575</cp:revision>
  <dcterms:modified xsi:type="dcterms:W3CDTF">2014-04-24T02:58:04Z</dcterms:modified>
</cp:coreProperties>
</file>